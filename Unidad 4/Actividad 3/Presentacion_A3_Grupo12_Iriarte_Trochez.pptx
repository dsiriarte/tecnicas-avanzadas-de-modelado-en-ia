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44ca12d4-e511-40b4-861a-23d6f5f99b7c}">
          <p14:sldIdLst>
            <p14:sldId id="256"/>
            <p14:sldId id="257"/>
          </p14:sldIdLst>
        </p14:section>
        <p14:section name="Método" id="{e150dbaf-5b13-6aa7-d4c1-bdc3dbd5929a}">
          <p14:sldIdLst>
            <p14:sldId id="258"/>
            <p14:sldId id="259"/>
            <p14:sldId id="260"/>
          </p14:sldIdLst>
        </p14:section>
        <p14:section name="Resultados" id="{f0ca84e1-065f-6a9f-8e68-33ff9caf40c8}">
          <p14:sldIdLst>
            <p14:sldId id="261"/>
            <p14:sldId id="262"/>
            <p14:sldId id="263"/>
            <p14:sldId id="264"/>
          </p14:sldIdLst>
        </p14:section>
        <p14:section name="Cierre" id="{87862701-a135-5460-9909-e631b7eef21c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Grupo 12 · Iriarte y Trochez · Unidad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siriarte/Tecnicas-Avanzadas-de-Modelado-en-IA/tree/main/Unidad%204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siriarte/Tecnicas-Avanzadas-de-Modelado-en-IA/tree/main/Unidad%204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B4D3"/>
                </a:solidFill>
              </a:rPr>
              <a:t>TÉCNICAS AVANZADAS DE MODELADO EN IA · UNIDAD 4 · PROYECTO INTEGRADOR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a 10 minutos de la actividad de Internet en Milán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Redes recurrentes LSTM y GRU frente a líneas base sencillas, con la misma partición cronológica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David Santiago Iriarte Zamora y Jose Adrian Trochez Cuellar · Grupo 12</a:t>
            </a:r>
            <a:endParaRPr lang="en-US" sz="18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CADCF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github.com/dsiriarte/Tecnicas-Avanzadas-de-Modelado-en-IA/tree/main/Unidad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reto: superar a la persistencia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¿Una red recurrente reduce el error de pronóstico frente a líneas base sencillas, evaluadas con la misma partición?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Para qué sirve.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Ajustar la capacidad de la red, encender o apagar recursos de radio y detectar fallas frente a lo previsto.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Por qué es difícil.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cambio mediano entre intervalos es 8.462, cerca del 1 % del nivel. Repetir el último valor ya da un MAPE de 1,6 %.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Hipótesis.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red puede aprovechar la inercia de la serie (autocorrelación del cambio de 0,67) y la hora del día.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Criterio de éxito.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Menor MAE en prueba, con un IC 95 % que excluya el cero y Diebold-Mariano p &lt; 0,05.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1874520"/>
            <a:ext cx="382219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0" y="1984248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millones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2642616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registros de 10.000 celdas, del 4 al 10 de noviembre de 2013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3337560"/>
            <a:ext cx="382219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0" y="3447288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4105656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intervalos de 10 minutos al agregar la ciudad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4800600"/>
            <a:ext cx="3822192" cy="1280160"/>
          </a:xfrm>
          <a:prstGeom prst="roundRect">
            <a:avLst>
              <a:gd name="adj" fmla="val 5714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4910328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9.906 vs. 9.230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5568696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MAE en prueba del avance: la LSTM perdía contra la persistencia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partición cronológica</a:t>
            </a:r>
            <a:endParaRPr lang="en-US" sz="3400" dirty="0"/>
          </a:p>
        </p:txBody>
      </p:sp>
      <p:pic>
        <p:nvPicPr>
          <p:cNvPr id="3" name="Image 0" descr="Serie agregada y registros válidos con la parti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32091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618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Amarillo: validación (sábado). Rojo: prueba (domingo). Hora local de Milán.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280160"/>
            <a:ext cx="34107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Fuente.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Telecom Italia Big Data Challenge (Barlacchi et al., 2015), licencia ODbL.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Agregación.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Suma de internet por intervalo; no reemplazamos por cero el 49,7 % de valores vacíos.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Sin fuga.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Escaladores ajustados solo con entrenamiento; un assert verifica que ningún objetivo cruce particiones.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892040"/>
            <a:ext cx="35204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01768"/>
            <a:ext cx="3154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693 / 151 / 152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637276"/>
            <a:ext cx="31546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ventanas: lunes a viernes, sábado y domingo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5968" y="4892040"/>
            <a:ext cx="35204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8848" y="5001768"/>
            <a:ext cx="3154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771 y 642 mil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498848" y="5637276"/>
            <a:ext cx="31546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nivel medio en días laborales y el domingo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83296" y="4892040"/>
            <a:ext cx="352958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66176" y="5001768"/>
            <a:ext cx="31638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0,88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66176" y="5637276"/>
            <a:ext cx="316382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correlación entre la actividad y la cobertura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y arquitectura de la 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681429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6187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64208"/>
            <a:ext cx="14619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Carga verificada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SHA-256 del CSV, 1.008 intervalos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31237" y="1417320"/>
            <a:ext cx="1681429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0965" y="126187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0965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40965" y="1664208"/>
            <a:ext cx="14619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Ventana 12 × 4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nivel, cambio, seno y coseno de la hora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3834" y="1417320"/>
            <a:ext cx="1681429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3562" y="126187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2356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23562" y="1664208"/>
            <a:ext cx="14619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GRU(32)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3.648 parámetros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6432" y="1417320"/>
            <a:ext cx="1681429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6160" y="126187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61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6160" y="1664208"/>
            <a:ext cx="14619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Dropout 0,4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regulariza el estado final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79029" y="1417320"/>
            <a:ext cx="1681429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8757" y="126187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8757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88757" y="1664208"/>
            <a:ext cx="14619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Dense(1)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cambio escalado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961626" y="1417320"/>
            <a:ext cx="1681429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71354" y="126187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71354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71354" y="1664208"/>
            <a:ext cx="14619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Pronóstico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último valor más el cambio; promedio de 3 semillas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8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Predecir el cambio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cambio es 15 veces más pequeño que el nivel; con este objetivo, la persistencia equivale a predecir cero.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y no LSTM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 en las 4 combinaciones de la ronda 2, con 23 % menos parámetros (3.681 frente a 4.769).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unidades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693 ventanas de entrenamiento, el modelo tiene unos 5 parámetros por ejemplo.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 en seno y coseno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23:50 y 00:00 quedan cerca; con objetivo de cambio, el MAE pasa de 6.366 a 5.844.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y MAE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para entrenar; MAE para reportar, en las mismas unidades de la serie.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experimental: 147 redes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2377440"/>
                <a:gridCol w="1493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cambia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MAE val.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persistencia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base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 · deriva · Ridge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9.147 · 7.612 · 5.875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· avance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factor por vez desde E1: lr, dropout, celda u optimizador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6.727 (E4 GRU)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−26,5 %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· factorial 2 × 2 × 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celda × objetivo × entradas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−36,1 %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· malla de 36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× dropout × optimizador × celda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5.653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−38,2 %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840480"/>
            <a:ext cx="357621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808" y="4023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4023360"/>
            <a:ext cx="2661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Factores separados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572000"/>
            <a:ext cx="317388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Científicos: celda y objetivo. De ruido: lr, dropout y optimizador, ajustados para cada celda (tuning playbook de Google).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07738" y="3840480"/>
            <a:ext cx="357621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08906" y="4023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0890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0970" y="4023360"/>
            <a:ext cx="2661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Tres semillas y regla fija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08906" y="4572000"/>
            <a:ext cx="317388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Semillas 42, 7 y 2026 con enable_op_determinism. Gana el menor MAE medio de validación, regla fijada antes de entrenar.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66837" y="3840480"/>
            <a:ext cx="357621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68005" y="4023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68005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780069" y="4023360"/>
            <a:ext cx="2661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Todo registrado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68005" y="4572000"/>
            <a:ext cx="317388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MLflow guarda parámetros, métricas, pérdidas por época y artefactos de las 150 corridas.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Hiperparámetros: manda la regularización</a:t>
            </a:r>
            <a:endParaRPr lang="en-US" sz="3400" dirty="0"/>
          </a:p>
        </p:txBody>
      </p:sp>
      <p:pic>
        <p:nvPicPr>
          <p:cNvPr id="3" name="Image 0" descr="Malla de hiperparámetros, MAE de valid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27312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938277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Ronda 3: MAE de validación (miles), media de 3 semillas, por tasa de aprendizaje y dropout.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4251960"/>
            <a:ext cx="263644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361688"/>
            <a:ext cx="22706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042916"/>
            <a:ext cx="2270684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factor con más efecto: 5.861 con 0,0003 y 6.249 con 0,003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67964" y="4251960"/>
            <a:ext cx="263644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844" y="4361688"/>
            <a:ext cx="22706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50844" y="5042916"/>
            <a:ext cx="2270684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error baja al subirlo: 6.117 con 0 y 5.937 con 0,4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87288" y="4251960"/>
            <a:ext cx="263644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70168" y="4361688"/>
            <a:ext cx="22706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optimizador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70168" y="5042916"/>
            <a:ext cx="2270684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casi no importa: Adam 6.018 y RMSprop 6.043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006611" y="4251960"/>
            <a:ext cx="2636444" cy="1325880"/>
          </a:xfrm>
          <a:prstGeom prst="roundRect">
            <a:avLst>
              <a:gd name="adj" fmla="val 5517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491" y="4361688"/>
            <a:ext cx="22706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189491" y="5042916"/>
            <a:ext cx="2270684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5.653 ± 148, frente a 5.780 ± 280 de la LSTM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cinco mejores configuraciones están dentro de una desviación estándar (5.653 a 5.760). Lo que se mantiene es GRU, dropout 0,4 y objetivo de cambio, más que un valor exacto de lr.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de aprendizaje</a:t>
            </a:r>
            <a:endParaRPr lang="en-US" sz="3400" dirty="0"/>
          </a:p>
        </p:txBody>
      </p:sp>
      <p:pic>
        <p:nvPicPr>
          <p:cNvPr id="3" name="Image 0" descr="Curvas de pérdida y MAE por épo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772400" cy="355228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5013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Continua: entrenamiento. Discontinua: validación. Punteadas: persistencia y deriva. Una línea por semilla.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595360" y="1234440"/>
            <a:ext cx="3047695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59952" y="1344168"/>
            <a:ext cx="27185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Objetivo de nivel (E4)</a:t>
            </a:r>
            <a:endParaRPr lang="en-US" sz="150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Mejor época entre 22 y 53 según la semilla. El dropout altera un estado de unos 800 mil.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595360" y="2715768"/>
            <a:ext cx="3047695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59952" y="2825496"/>
            <a:ext cx="27185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Objetivo de cambio</a:t>
            </a:r>
            <a:endParaRPr lang="en-US" sz="150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Mínimo en la época 2; después la validación sube y EarlyStopping recupera esos pesos.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595360" y="4197096"/>
            <a:ext cx="3047695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59952" y="4306824"/>
            <a:ext cx="27185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Validación por debajo</a:t>
            </a:r>
            <a:endParaRPr lang="en-US" sz="150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Por el dropout en entrenamiento y porque el sábado cambia menos (varianza al 48 %).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16636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2120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Sin dropout, R² del cambio: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0,64 en entrenamiento y 0,60 en validación con la GRU final (E4: 0,30 y 0,45). En la época elegida no hay sobreajuste.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Prueba: −36,8 % frente a la persistencia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36444" cy="1280160"/>
          </a:xfrm>
          <a:prstGeom prst="roundRect">
            <a:avLst>
              <a:gd name="adj" fmla="val 5714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5.835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02536"/>
            <a:ext cx="22706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MAE de la GRU en prueba (domingo)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67964" y="1234440"/>
            <a:ext cx="2636444" cy="1280160"/>
          </a:xfrm>
          <a:prstGeom prst="roundRect">
            <a:avLst>
              <a:gd name="adj" fmla="val 5714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50844" y="1344168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−36,8 %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50844" y="2002536"/>
            <a:ext cx="22706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frente a la persistencia; IC [−5.503; −902], p &lt; 0,001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7288" y="1234440"/>
            <a:ext cx="2636444" cy="1280160"/>
          </a:xfrm>
          <a:prstGeom prst="roundRect">
            <a:avLst>
              <a:gd name="adj" fmla="val 5714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0168" y="1344168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−12,7 %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002536"/>
            <a:ext cx="22706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frente a Ridge con las mismas entradas; p &lt; 0,001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611" y="1234440"/>
            <a:ext cx="2636444" cy="1280160"/>
          </a:xfrm>
          <a:prstGeom prst="roundRect">
            <a:avLst>
              <a:gd name="adj" fmla="val 5714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491" y="1344168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−12,8 %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189491" y="2002536"/>
            <a:ext cx="22706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frente a la deriva; IC [−1.687; +205], p = 0,06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6492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Avance: E5 LSTM (nivel)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Ronda 1: E4 GRU (nivel)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(cambio)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LSTM (ronda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seleccionada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315200" y="2743200"/>
            <a:ext cx="432511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sola evaluación, con las mismas 152 ventanas para todos los modelos.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 por bootstrap de bloques de 12 pasos; Diebold-Mariano con varianza de Newey-West.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Validación 5.599 y prueba 5.835: 4 % de diferencia.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Frente a la deriva la diferencia no es significativa con un solo día de prueba, así que no afirmamos que la red sea mejor.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Errores: dónde gana y dónde falla</a:t>
            </a:r>
            <a:endParaRPr lang="en-US" sz="3400" dirty="0"/>
          </a:p>
        </p:txBody>
      </p:sp>
      <p:pic>
        <p:nvPicPr>
          <p:cNvPr id="3" name="Image 0" descr="Pronóstico, residuos y MAE por franja horaria en prueb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023278" cy="48006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91958" y="1280160"/>
          <a:ext cx="3751097" cy="914400"/>
        </p:xfrm>
        <a:graphic>
          <a:graphicData uri="http://schemas.openxmlformats.org/drawingml/2006/table">
            <a:tbl>
              <a:tblPr/>
              <a:tblGrid>
                <a:gridCol w="1647977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Tercil del cambio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91958" y="2971800"/>
            <a:ext cx="3751097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las rampas el error baja 59 %; en la madrugada, de 9.815 a 3.883.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la serie está estable, la persistencia acierta y la red predice un cambio que no ocurre.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Sesgo de −2.633: aprendió con días laborales y el domingo tiene 17 % menos actividad.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Ljung-Box p = 0,79; 0,28 y 0,21: no queda autocorrelación en los residuos.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recomendaciones de uso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10048" cy="4892040"/>
          </a:xfrm>
          <a:prstGeom prst="roundRect">
            <a:avLst>
              <a:gd name="adj" fmla="val 1495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riesgos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614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</a:rPr>
              <a:t>Una sola semana: no hay evidencia entre semanas ni en festivos.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</a:rPr>
              <a:t>Un solo día de prueba: el intervalo no captura la variación entre días.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</a:rPr>
              <a:t>El índice depende de la cobertura (r = 0,88) y no mide bytes.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</a:rPr>
              <a:t>El avance ya había usado la prueba; esta versión no la usó para decidir.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</a:rPr>
              <a:t>Sobrestimar el fin de semana puede dejar recursos encendidos sin necesidad.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410048" cy="4892040"/>
          </a:xfrm>
          <a:prstGeom prst="roundRect">
            <a:avLst>
              <a:gd name="adj" fmla="val 1495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07328" y="14173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y despliegue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507328" y="1965960"/>
            <a:ext cx="48614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2"/>
                </a:solidFill>
              </a:rPr>
              <a:t>Uso. 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Actividad agregada de la ciudad a 10 minutos; no por celda ni por usuario.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2"/>
                </a:solidFill>
              </a:rPr>
              <a:t>Respaldo. 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La deriva: no cuesta nada y su MAE es solo 15 % mayor.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2"/>
                </a:solidFill>
              </a:rPr>
              <a:t>Monitoreo. 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MAE móvil diario frente a la deriva y alerta por sesgo.</a:t>
            </a:r>
            <a:endParaRPr lang="en-US" sz="17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2"/>
                </a:solidFill>
              </a:rPr>
              <a:t>Antes de producción. </a:t>
            </a:r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Más semanas, día de la semana y cobertura como entradas, TimeSeriesSplit e intervalos de predicción.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reproducibilidad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716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Cambiar el objetivo a predecir el cambio importó más que la arquitectura: pasamos de 9.906 a 5.835 de MAE.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8346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 GRU supera con significancia a la persistencia (−36,8 %) y a Ridge (−12,7 %). Frente a la deriva, la ventaja de 12,8 % no es significativa.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2976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Su valor está en las subidas y bajadas de actividad. Su debilidad es el sesgo del fin de semana, que requiere más semanas de datos.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1371600"/>
            <a:ext cx="4053535" cy="4572000"/>
          </a:xfrm>
          <a:prstGeom prst="roundRect">
            <a:avLst>
              <a:gd name="adj" fmla="val 180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155448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103120"/>
            <a:ext cx="3596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Notebook ejecutado de principio a fin (unos 6 minutos en CPU)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Pesos .keras de las 3 semillas y metadatos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MLflow: 151 corridas registradas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requirements_u4.txt y semillas 42, 7 y 2026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SHA-256 del CSV verificado al cargar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Los pesos recargados reproducen el resultado (diferencia de 0,0000)</a:t>
            </a:r>
            <a:endParaRPr lang="en-US" sz="1500" dirty="0"/>
          </a:p>
        </p:txBody>
      </p:sp>
      <p:sp>
        <p:nvSpPr>
          <p:cNvPr id="15" name="Text 13">
            <a:hlinkClick r:id="rId1" tooltip=""/>
          </p:cNvPr>
          <p:cNvSpPr txBox="1"/>
          <p:nvPr/>
        </p:nvSpPr>
        <p:spPr>
          <a:xfrm>
            <a:off x="548640" y="6172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ADCF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github.com/dsiriarte/Tecnicas-Avanzadas-de-Modelado-en-IA/tree/main/Unidad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an U4">
  <a:themeElements>
    <a:clrScheme name="Milan U4">
      <a:dk1>
        <a:srgbClr val="1D2735"/>
      </a:dk1>
      <a:lt1>
        <a:srgbClr val="FFFFFF"/>
      </a:lt1>
      <a:dk2>
        <a:srgbClr val="0B2559"/>
      </a:dk2>
      <a:lt2>
        <a:srgbClr val="EEF3F8"/>
      </a:lt2>
      <a:accent1>
        <a:srgbClr val="0B2559"/>
      </a:accent1>
      <a:accent2>
        <a:srgbClr val="1D6F5F"/>
      </a:accent2>
      <a:accent3>
        <a:srgbClr val="9A6510"/>
      </a:accent3>
      <a:accent4>
        <a:srgbClr val="52728A"/>
      </a:accent4>
      <a:accent5>
        <a:srgbClr val="D1495B"/>
      </a:accent5>
      <a:accent6>
        <a:srgbClr val="173A7A"/>
      </a:accent6>
      <a:hlink>
        <a:srgbClr val="175582"/>
      </a:hlink>
      <a:folHlink>
        <a:srgbClr val="52728A"/>
      </a:folHlink>
    </a:clrScheme>
    <a:fontScheme name="Milan U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Grupo 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Pronóstico a 10 minutos de la actividad de Internet en Milán</dc:title>
  <dc:subject>PptxGenJS Presentation</dc:subject>
  <dc:creator>David Santiago Iriarte Zamora y Jose Adrian Trochez Cuellar</dc:creator>
  <cp:lastModifiedBy>David Santiago Iriarte Zamora y Jose Adrian Trochez Cuellar</cp:lastModifiedBy>
  <cp:revision>1</cp:revision>
  <dcterms:created xsi:type="dcterms:W3CDTF">2026-10-26T03:55:50Z</dcterms:created>
  <dcterms:modified xsi:type="dcterms:W3CDTF">2026-10-26T03:55:50Z</dcterms:modified>
</cp:coreProperties>
</file>